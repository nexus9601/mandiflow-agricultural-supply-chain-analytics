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0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858000" cy="68580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754880" cy="4754880"/>
          </a:xfrm>
          <a:prstGeom prst="ellipse">
            <a:avLst/>
          </a:prstGeom>
          <a:solidFill>
            <a:srgbClr val="74C6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SUPPLY CHAIN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MandiFlow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fragmented mandi, price, weather and logistics data into one live decision layer for India's agricultural markets.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Track:  </a:t>
            </a:r>
            <a:r>
              <a:rPr lang="en-US" sz="130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Rural Development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300" b="1" i="1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Seekers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3977640" cy="56692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6035040"/>
            <a:ext cx="118872" cy="11887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8064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 •  25,750 RECORDS  •  57 MANDIS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mandi ecosystem runs on fragmented, delayed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traders and policymakers each see a slice of the picture — never the whole supply chain at once.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/home/claude/imgs/icons/volatil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07" y="2298527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85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Volatility, No Warning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2862072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prices swing sharply against MSP floors, with crash rates topping 50% for crops like cotton — and no early signal for traders or farmers.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222199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/home/claude/imgs/icons/fragmente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887" y="2298527"/>
            <a:ext cx="413857" cy="4138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185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Fragmented, Siloed Data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245352" y="2862072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volumes, price discovery, weather and logistics data live in disconnected government and private systems.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41655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2" descr="/home/claude/imgs/icons/logistics_bli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07" y="4493087"/>
            <a:ext cx="413857" cy="41385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379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Blind Spots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04672" y="5056632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Mandi-to-warehouse transit runs 27+ hours on average, with no visibility into which corridors are chronically slow.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8932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5352" y="441655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3" descr="/home/claude/imgs/icons/noview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887" y="4493087"/>
            <a:ext cx="413857" cy="41385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379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Unified, Real-Time View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245352" y="5056632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live dashboard connecting catchment districts, trading mandis and warehouses for fast decisions.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MandiFlow: one live pipeline, four decision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agricultural supply-chain intelligence platform that fuses arrivals, price discovery, weather and logistics into a single real-time workspace — with an AI layer on top for plain-language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1453896" y="26517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home/claude/imgs/icons/unif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651" y="2750515"/>
            <a:ext cx="534010" cy="5340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661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8096" y="39959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25,750 records across 57 mandis, 18 districts &amp; 6 warehouses in one live feed.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0128" y="23317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B4332"/>
          </a:solidFill>
          <a:ln/>
        </p:spPr>
      </p:sp>
      <p:sp>
        <p:nvSpPr>
          <p:cNvPr id="11" name="Shape 8"/>
          <p:cNvSpPr/>
          <p:nvPr/>
        </p:nvSpPr>
        <p:spPr>
          <a:xfrm>
            <a:off x="4215384" y="26517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/home/claude/imgs/icons/transparency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139" y="2750515"/>
            <a:ext cx="534010" cy="5340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35661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9584" y="39959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price vs. MSP parity, crash-rate risk and market spread, crop by crop.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71616" y="23317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B4332"/>
          </a:solidFill>
          <a:ln/>
        </p:spPr>
      </p:sp>
      <p:sp>
        <p:nvSpPr>
          <p:cNvPr id="16" name="Shape 12"/>
          <p:cNvSpPr/>
          <p:nvPr/>
        </p:nvSpPr>
        <p:spPr>
          <a:xfrm>
            <a:off x="6976872" y="26517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7" name="Image 2" descr="/home/claude/imgs/icons/logistic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627" y="2750515"/>
            <a:ext cx="534010" cy="5340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71616" y="35661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91072" y="39959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Transit-time and corridor analytics flag warehouses breaching the 24h threshold.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833104" y="23317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B4332"/>
          </a:solidFill>
          <a:ln/>
        </p:spPr>
      </p:sp>
      <p:sp>
        <p:nvSpPr>
          <p:cNvPr id="21" name="Shape 16"/>
          <p:cNvSpPr/>
          <p:nvPr/>
        </p:nvSpPr>
        <p:spPr>
          <a:xfrm>
            <a:off x="9738360" y="265176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2" name="Image 3" descr="/home/claude/imgs/icons/ai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7115" y="2750515"/>
            <a:ext cx="534010" cy="5340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33104" y="35661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052560" y="39959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NL assistant answers market questions instantly, no dashboards to hunt through.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connected workspaces, one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25,750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47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LIVE PIPELINE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14173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15184" y="1947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TRADING MANDIS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1728" y="14173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81728" y="1947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DISTRICTS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48272" y="14173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48272" y="1947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WORKSPACES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14816" y="14173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14816" y="194767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WAREHOUSES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E1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0" descr="/home/claude/imgs/icon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6" y="3050804"/>
            <a:ext cx="427208" cy="4272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across arrivals, price &amp; transit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2144268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83180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1" descr="/home/claude/imgs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184" y="3050804"/>
            <a:ext cx="427208" cy="4272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235708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Analysis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2253996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Trading-hub benchmarking &amp; geographic ranking</a:t>
            </a:r>
            <a:endParaRPr lang="en-US" sz="970" dirty="0"/>
          </a:p>
        </p:txBody>
      </p:sp>
      <p:sp>
        <p:nvSpPr>
          <p:cNvPr id="26" name="Shape 22"/>
          <p:cNvSpPr/>
          <p:nvPr/>
        </p:nvSpPr>
        <p:spPr>
          <a:xfrm>
            <a:off x="3739896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78808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2" descr="/home/claude/imgs/icons/see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812" y="3050804"/>
            <a:ext cx="427208" cy="4272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31336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&amp; Price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3849624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parity, price-crash risk &amp; market spread</a:t>
            </a:r>
            <a:endParaRPr lang="en-US" sz="970" dirty="0"/>
          </a:p>
        </p:txBody>
      </p:sp>
      <p:sp>
        <p:nvSpPr>
          <p:cNvPr id="31" name="Shape 26"/>
          <p:cNvSpPr/>
          <p:nvPr/>
        </p:nvSpPr>
        <p:spPr>
          <a:xfrm>
            <a:off x="5335524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74436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3" name="Image 3" descr="/home/claude/imgs/icons/tru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440" y="3050804"/>
            <a:ext cx="427208" cy="4272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26964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5445252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dispatch efficiency &amp; corridor bottlenecks</a:t>
            </a:r>
            <a:endParaRPr lang="en-US" sz="970" dirty="0"/>
          </a:p>
        </p:txBody>
      </p:sp>
      <p:sp>
        <p:nvSpPr>
          <p:cNvPr id="36" name="Shape 30"/>
          <p:cNvSpPr/>
          <p:nvPr/>
        </p:nvSpPr>
        <p:spPr>
          <a:xfrm>
            <a:off x="6931152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370064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8" name="Image 4" descr="/home/claude/imgs/icons/clou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9068" y="3050804"/>
            <a:ext cx="427208" cy="4272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022592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Impact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7040880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 &amp; inflow correlation</a:t>
            </a:r>
            <a:endParaRPr lang="en-US" sz="970" dirty="0"/>
          </a:p>
        </p:txBody>
      </p:sp>
      <p:sp>
        <p:nvSpPr>
          <p:cNvPr id="41" name="Shape 34"/>
          <p:cNvSpPr/>
          <p:nvPr/>
        </p:nvSpPr>
        <p:spPr>
          <a:xfrm>
            <a:off x="8526780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965692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3" name="Image 5" descr="/home/claude/imgs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4696" y="3050804"/>
            <a:ext cx="427208" cy="4272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618220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636508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across every dataset</a:t>
            </a:r>
            <a:endParaRPr lang="en-US" sz="970" dirty="0"/>
          </a:p>
        </p:txBody>
      </p:sp>
      <p:sp>
        <p:nvSpPr>
          <p:cNvPr id="46" name="Shape 38"/>
          <p:cNvSpPr/>
          <p:nvPr/>
        </p:nvSpPr>
        <p:spPr>
          <a:xfrm>
            <a:off x="10122408" y="2697480"/>
            <a:ext cx="1463040" cy="3063240"/>
          </a:xfrm>
          <a:prstGeom prst="roundRect">
            <a:avLst>
              <a:gd name="adj" fmla="val 5625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0561320" y="297180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8" name="Image 6" descr="/home/claude/imgs/icons/robo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0324" y="3050804"/>
            <a:ext cx="427208" cy="4272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0213848" y="3721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Analytics</a:t>
            </a:r>
            <a:endParaRPr lang="en-US" sz="1250" dirty="0"/>
          </a:p>
        </p:txBody>
      </p:sp>
      <p:sp>
        <p:nvSpPr>
          <p:cNvPr id="50" name="Text 41"/>
          <p:cNvSpPr/>
          <p:nvPr/>
        </p:nvSpPr>
        <p:spPr>
          <a:xfrm>
            <a:off x="10232136" y="423367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market query engine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Market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single-screen briefing that fuses mandi inflows, wholesale price discovery, MSP parity and transit logistics for decision-makers.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591.8K Qtl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INFLOW VOLUME TRACKED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MODAL MARKET PRICE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 hrs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TRANSIT, DISPATCH TO MANDI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Cotton, mustard and wheat dominate inflow — over 300K quintals combined — making them the highest-leverage crops for price and logistics interventions.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1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MANDI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Activity &amp; Geographic Benchmarking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trading hubs by arrival volume and benchmarks catchment districts to reveal where supply concentration actually sits.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REPORTING MANDIS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Arrah Mandi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TOP-VOLUME MANDI — 15,494 QTL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Patiala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CATCHMENT DISTRICT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mandis alone account for a disproportionate share of arrivals — prioritizing them first gives the fastest path to market stabilization.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1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CROP &amp; PRICE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Price Discovery &amp; MSP Parity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 into mandi realization prices against government MSP floors, exposing where farmers are trading below their support price.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TO MSP FLOOR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PRICE-CRASH INSTANCES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36.97%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MARKET RISK LEVEL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and mustard show the widest MSP gaps (₹+137 / ₹+120) — clear targets for procurement or price-support policy focus.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15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CROP &amp; PRICE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Volatility &amp; Downside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crops by how often modal price falls below MSP, and how wide the price spread runs — turning raw variance into an actionable risk matrix.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— HIGHEST PRICE-CRASH RATE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PRICE-CRASH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MOST PRICE-STABLE CROP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and wheat need the closest monitoring; rice's stability makes it a useful benchmark for what a well-supported market looks like.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2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TRANSPORT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Transit Optimization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fleet dispatch efficiency, haul distance and corridor-level transit risk across every mandi-to-warehouse route.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DISPATCHES TRACKED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651.6 km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HAUL DISTANCE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Wh-North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WAREHOUSE HUB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MANDI045 → Wh-East corridor is the longest route in the network — a strong first candidate for a new intermediate warehouse.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2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WEATHER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Agro-Climatic &amp; Environmental Dynamics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rainfall, temperature and humidity against daily arrivals to separate genuine climate risk from routine market noise.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4,642 mm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RAINFALL OBSERVED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27.7 °C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MEAN TEMPERATURE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RAINFALL-TO-ARRIVAL CORRELATION (R)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near-zero correlation confirms arrivals are driven mainly by market and logistics factors, not short-term weather — a key input for forecasting models.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2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AI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MandiFlow anything, in plain English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natural-language query engine lets any stakeholder — officer, trader or analyst — pull the exact cut of data they need without touching a filter.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/home/claude/imgs/icons/char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2393442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5 crops by inflow volume”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1" descr="/home/claude/imgs/icons/che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3015234"/>
            <a:ext cx="333756" cy="333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953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“Price vs MSP floor parity”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2" descr="/home/claude/imgs/icons/cloud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" y="3637026"/>
            <a:ext cx="333756" cy="333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“Rainfall vs arrival dynamics”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334256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 · /followup · /insight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77240" y="4700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generate new visuals, refine them, or surface a strategic insight — no re-querying needed.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17336" y="1316736"/>
            <a:ext cx="5596128" cy="3030093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8" name="Image 3" descr="/home/claude/imgs/Screenshot_2026-09-16_23425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2200" y="1371600"/>
            <a:ext cx="5486400" cy="29203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Pipeline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is automatically checked for missing values, invalid ranges and cross-dataset join integrity before it reaches a dashboard.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RULES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 TRANSPORT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3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FLAGGED FOR IMPUTATION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E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58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transparency: MandiFlow surfaces its own data gaps rather than hiding them — arrival dates and modal prices are the top imputation priorities.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51576" y="1362456"/>
            <a:ext cx="5916168" cy="320044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AE3"/>
            </a:solidFill>
            <a:prstDash val="solid"/>
          </a:ln>
          <a:effectLst>
            <a:outerShdw blurRad="127000" dist="381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15" name="Image 0" descr="/home/claude/imgs/Screenshot_2026-09-16_23425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417320"/>
            <a:ext cx="5806440" cy="3090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— 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stack, real-world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2024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0" descr="/home/claude/imgs/icons/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78" y="1972086"/>
            <a:ext cx="280355" cy="2803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8470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7008" y="215798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analytics engine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46704" y="1719072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11296" y="192024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1" descr="/home/claude/imgs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142" y="1972086"/>
            <a:ext cx="280355" cy="2803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18470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05072" y="215798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joins &amp; aggregation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2798064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299923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2" descr="/home/claude/imgs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78" y="3051078"/>
            <a:ext cx="280355" cy="2803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07008" y="292608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07008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charting layer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346704" y="2798064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F6F9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511296" y="299923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3" descr="/home/claude/imgs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142" y="3051078"/>
            <a:ext cx="280355" cy="28035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05072" y="292608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005072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filterable web dashboard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486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4" descr="/home/claude/imgs/icons/leaf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55" y="4214835"/>
            <a:ext cx="293705" cy="29370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get MSP-parity visibility to time sales, not just guess.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4764024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1" name="Image 5" descr="/home/claude/imgs/icons/truck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55" y="4818339"/>
            <a:ext cx="293705" cy="2937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teams flag slow corridors before they become losses.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48640" y="536752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6" descr="/home/claude/imgs/icons/shield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55" y="5421843"/>
            <a:ext cx="293705" cy="29370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97280" y="5367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get a governed, validated single source of truth.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12648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B4332"/>
          </a:solidFill>
          <a:ln/>
        </p:spPr>
      </p:sp>
      <p:sp>
        <p:nvSpPr>
          <p:cNvPr id="37" name="Text 28"/>
          <p:cNvSpPr/>
          <p:nvPr/>
        </p:nvSpPr>
        <p:spPr>
          <a:xfrm>
            <a:off x="64465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46520" y="1901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next</a:t>
            </a:r>
            <a:endParaRPr lang="en-US" sz="1900" dirty="0"/>
          </a:p>
        </p:txBody>
      </p:sp>
      <p:sp>
        <p:nvSpPr>
          <p:cNvPr id="39" name="Shape 30"/>
          <p:cNvSpPr/>
          <p:nvPr/>
        </p:nvSpPr>
        <p:spPr>
          <a:xfrm>
            <a:off x="6446520" y="25146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0" name="Image 7" descr="/home/claude/imgs/icons/bulb_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8242" y="2576322"/>
            <a:ext cx="333756" cy="3337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086600" y="2496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Alerts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7086600" y="27706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MSP-crash risk 7–14 days ahead using historical price patterns.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6446520" y="3410712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4" name="Image 8" descr="/home/claude/imgs/icons/rocket_go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8242" y="3472434"/>
            <a:ext cx="333756" cy="33375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086600" y="3392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SMS Push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7086600" y="36667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farmer-facing price and weather alerts to low-bandwidth channels.</a:t>
            </a:r>
            <a:endParaRPr lang="en-US" sz="1050" dirty="0"/>
          </a:p>
        </p:txBody>
      </p:sp>
      <p:sp>
        <p:nvSpPr>
          <p:cNvPr id="47" name="Shape 36"/>
          <p:cNvSpPr/>
          <p:nvPr/>
        </p:nvSpPr>
        <p:spPr>
          <a:xfrm>
            <a:off x="6446520" y="430682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8" name="Image 9" descr="/home/claude/imgs/icons/globe_go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8242" y="4368546"/>
            <a:ext cx="333756" cy="3337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086600" y="4288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State-Level Rollout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086600" y="4562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18-district pilot to a full multi-state mandi network.</a:t>
            </a:r>
            <a:endParaRPr lang="en-US" sz="1050" dirty="0"/>
          </a:p>
        </p:txBody>
      </p:sp>
      <p:sp>
        <p:nvSpPr>
          <p:cNvPr id="51" name="Shape 39"/>
          <p:cNvSpPr/>
          <p:nvPr/>
        </p:nvSpPr>
        <p:spPr>
          <a:xfrm>
            <a:off x="6446520" y="5202936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2" name="Image 10" descr="/home/claude/imgs/icons/users_go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8242" y="5264658"/>
            <a:ext cx="333756" cy="333756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86600" y="5184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Farmer-Facing App</a:t>
            </a:r>
            <a:endParaRPr lang="en-US" sz="1350" dirty="0"/>
          </a:p>
        </p:txBody>
      </p:sp>
      <p:sp>
        <p:nvSpPr>
          <p:cNvPr id="54" name="Text 41"/>
          <p:cNvSpPr/>
          <p:nvPr/>
        </p:nvSpPr>
        <p:spPr>
          <a:xfrm>
            <a:off x="7086600" y="5458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simplified, vernacular front-end on top of the same live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583680" cy="658368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6035040" cy="6035040"/>
          </a:xfrm>
          <a:prstGeom prst="ellipse">
            <a:avLst/>
          </a:prstGeom>
          <a:solidFill>
            <a:srgbClr val="74C69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MandiFlow — one live pipeline for every mandi decision.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mandiflow-agricultural-supply-chain-analytics.streamlit.app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7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Pattern Seekers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Widescreen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Thanush Kodi N</cp:lastModifiedBy>
  <cp:revision>2</cp:revision>
  <dcterms:created xsi:type="dcterms:W3CDTF">2026-09-16T18:23:14Z</dcterms:created>
  <dcterms:modified xsi:type="dcterms:W3CDTF">2026-09-16T18:25:05Z</dcterms:modified>
</cp:coreProperties>
</file>